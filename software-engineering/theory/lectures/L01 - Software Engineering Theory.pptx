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Nunito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q7cVbLBIVBaQlv0ztvNpn7l1G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447C20-C6C7-4E9D-9710-208B67C7B18D}">
  <a:tblStyle styleId="{15447C20-C6C7-4E9D-9710-208B67C7B1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+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ourier New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urier New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+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+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+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+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+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o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+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o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+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3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+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+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4"/>
          <p:cNvGrpSpPr/>
          <p:nvPr/>
        </p:nvGrpSpPr>
        <p:grpSpPr>
          <a:xfrm>
            <a:off x="-44951" y="-418135"/>
            <a:ext cx="11929296" cy="6782736"/>
            <a:chOff x="-44951" y="-418135"/>
            <a:chExt cx="11929296" cy="6782736"/>
          </a:xfrm>
        </p:grpSpPr>
        <p:sp>
          <p:nvSpPr>
            <p:cNvPr id="11" name="Google Shape;11;p24"/>
            <p:cNvSpPr/>
            <p:nvPr/>
          </p:nvSpPr>
          <p:spPr>
            <a:xfrm rot="2700000">
              <a:off x="175990" y="525742"/>
              <a:ext cx="1066799" cy="1066799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4"/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3;p24"/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14;p24"/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15;p24"/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16;p24"/>
            <p:cNvSpPr/>
            <p:nvPr/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" name="Google Shape;1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Quattrocento Sans"/>
              <a:buChar char="+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+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+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0" type="dt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1" type="ftr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1524000" y="5806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1823803" y="460453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Nishat Tasnim Sithy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Lecturer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Dept of CSE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Eastern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199" y="1825625"/>
            <a:ext cx="107941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Software Engineering is the process of </a:t>
            </a:r>
            <a:r>
              <a:rPr b="1" i="1" lang="en-US"/>
              <a:t>designing, developing, testing, and maintaining software.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1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0" i="0" lang="en-US">
                <a:solidFill>
                  <a:srgbClr val="141414"/>
                </a:solidFill>
              </a:rPr>
              <a:t> Applies </a:t>
            </a:r>
            <a:r>
              <a:rPr b="1" i="1" lang="en-US">
                <a:solidFill>
                  <a:srgbClr val="141414"/>
                </a:solidFill>
              </a:rPr>
              <a:t>engineering principles</a:t>
            </a:r>
            <a:r>
              <a:rPr b="0" i="0" lang="en-US">
                <a:solidFill>
                  <a:srgbClr val="141414"/>
                </a:solidFill>
              </a:rPr>
              <a:t> and </a:t>
            </a:r>
            <a:r>
              <a:rPr b="1" i="1" lang="en-US">
                <a:solidFill>
                  <a:srgbClr val="141414"/>
                </a:solidFill>
              </a:rPr>
              <a:t>knowledge of programming language</a:t>
            </a:r>
            <a:r>
              <a:rPr b="1" i="0" lang="en-US">
                <a:solidFill>
                  <a:srgbClr val="141414"/>
                </a:solidFill>
              </a:rPr>
              <a:t>s</a:t>
            </a:r>
            <a:r>
              <a:rPr b="0" i="0" lang="en-US">
                <a:solidFill>
                  <a:srgbClr val="141414"/>
                </a:solidFill>
              </a:rPr>
              <a:t> to build software solutions for </a:t>
            </a:r>
            <a:r>
              <a:rPr b="0" i="1" lang="en-US">
                <a:solidFill>
                  <a:srgbClr val="141414"/>
                </a:solidFill>
                <a:highlight>
                  <a:srgbClr val="FFFF00"/>
                </a:highlight>
              </a:rPr>
              <a:t>end users</a:t>
            </a:r>
            <a:r>
              <a:rPr b="0" i="0" lang="en-US">
                <a:solidFill>
                  <a:srgbClr val="141414"/>
                </a:solidFill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Why Software Engineering is Required?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To manage </a:t>
            </a:r>
            <a:r>
              <a:rPr lang="en-US">
                <a:highlight>
                  <a:srgbClr val="FFFF00"/>
                </a:highlight>
              </a:rPr>
              <a:t>Large software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For more </a:t>
            </a:r>
            <a:r>
              <a:rPr lang="en-US">
                <a:highlight>
                  <a:srgbClr val="FFFF00"/>
                </a:highlight>
              </a:rPr>
              <a:t>Scalability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Cost Management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To manage the </a:t>
            </a:r>
            <a:r>
              <a:rPr lang="en-US">
                <a:highlight>
                  <a:srgbClr val="FFFF00"/>
                </a:highlight>
              </a:rPr>
              <a:t>dynamic nature</a:t>
            </a:r>
            <a:r>
              <a:rPr lang="en-US"/>
              <a:t> of software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For better quality Management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Key Principles of Software Engineering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199" y="1825625"/>
            <a:ext cx="1116892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i="1" lang="en-US"/>
              <a:t>Modularity</a:t>
            </a:r>
            <a:r>
              <a:rPr lang="en-US"/>
              <a:t> : </a:t>
            </a:r>
            <a:r>
              <a:rPr lang="en-US" sz="2400"/>
              <a:t>Breaking the software into </a:t>
            </a:r>
            <a:r>
              <a:rPr lang="en-US" sz="2400">
                <a:highlight>
                  <a:srgbClr val="FFFF00"/>
                </a:highlight>
              </a:rPr>
              <a:t>smaller</a:t>
            </a:r>
            <a:r>
              <a:rPr lang="en-US" sz="2400"/>
              <a:t>, </a:t>
            </a:r>
            <a:r>
              <a:rPr lang="en-US" sz="2400">
                <a:highlight>
                  <a:srgbClr val="FFFF00"/>
                </a:highlight>
              </a:rPr>
              <a:t>reusable</a:t>
            </a:r>
            <a:r>
              <a:rPr lang="en-US" sz="2400"/>
              <a:t> components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i="1" lang="en-US"/>
              <a:t>Abstraction</a:t>
            </a:r>
            <a:r>
              <a:rPr lang="en-US"/>
              <a:t> : </a:t>
            </a:r>
            <a:r>
              <a:rPr lang="en-US" sz="2400">
                <a:highlight>
                  <a:srgbClr val="FFFF00"/>
                </a:highlight>
              </a:rPr>
              <a:t>Hiding</a:t>
            </a:r>
            <a:r>
              <a:rPr lang="en-US" sz="2400"/>
              <a:t> the implementation </a:t>
            </a:r>
            <a:r>
              <a:rPr lang="en-US" sz="2400">
                <a:highlight>
                  <a:srgbClr val="FFFF00"/>
                </a:highlight>
              </a:rPr>
              <a:t>details</a:t>
            </a:r>
            <a:r>
              <a:rPr lang="en-US" sz="2400"/>
              <a:t>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i="1" lang="en-US"/>
              <a:t>Encapsulation</a:t>
            </a:r>
            <a:r>
              <a:rPr lang="en-US"/>
              <a:t> : </a:t>
            </a:r>
            <a:r>
              <a:rPr lang="en-US" sz="2400">
                <a:highlight>
                  <a:srgbClr val="FFFF00"/>
                </a:highlight>
              </a:rPr>
              <a:t>Wrapping up the data and functions </a:t>
            </a:r>
            <a:r>
              <a:rPr lang="en-US" sz="2400"/>
              <a:t>of an object into a single unit.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i="1" lang="en-US"/>
              <a:t>Reusability</a:t>
            </a:r>
            <a:r>
              <a:rPr lang="en-US"/>
              <a:t> : </a:t>
            </a:r>
            <a:r>
              <a:rPr lang="en-US" sz="2400"/>
              <a:t>Creating components that can be used in multiple objects.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i="1" lang="en-US"/>
              <a:t>Maintenance</a:t>
            </a:r>
            <a:r>
              <a:rPr lang="en-US"/>
              <a:t> : </a:t>
            </a:r>
            <a:r>
              <a:rPr lang="en-US" sz="2400"/>
              <a:t>Regularly updating and improving the software  to fix bugs.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i="1" lang="en-US"/>
              <a:t>Testing</a:t>
            </a:r>
            <a:r>
              <a:rPr lang="en-US"/>
              <a:t> : </a:t>
            </a:r>
            <a:r>
              <a:rPr lang="en-US" sz="2400"/>
              <a:t>Verifying that the software meets its requirement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584875" y="182562"/>
            <a:ext cx="109349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36CB"/>
              </a:buClr>
              <a:buSzPts val="4400"/>
              <a:buFont typeface="Open Sans"/>
              <a:buNone/>
            </a:pPr>
            <a:r>
              <a:rPr lang="en-US" sz="4400">
                <a:solidFill>
                  <a:srgbClr val="5B36CB"/>
                </a:solidFill>
                <a:latin typeface="Open Sans"/>
                <a:ea typeface="Open Sans"/>
                <a:cs typeface="Open Sans"/>
                <a:sym typeface="Open Sans"/>
              </a:rPr>
              <a:t>Software Quality and Stakeholders</a:t>
            </a:r>
            <a:endParaRPr sz="4400">
              <a:solidFill>
                <a:srgbClr val="5B36C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0" name="Google Shape;120;p5"/>
          <p:cNvGrpSpPr/>
          <p:nvPr/>
        </p:nvGrpSpPr>
        <p:grpSpPr>
          <a:xfrm>
            <a:off x="4940508" y="3429000"/>
            <a:ext cx="1973262" cy="801688"/>
            <a:chOff x="2039" y="2014"/>
            <a:chExt cx="1243" cy="505"/>
          </a:xfrm>
        </p:grpSpPr>
        <p:sp>
          <p:nvSpPr>
            <p:cNvPr id="121" name="Google Shape;121;p5"/>
            <p:cNvSpPr/>
            <p:nvPr/>
          </p:nvSpPr>
          <p:spPr>
            <a:xfrm>
              <a:off x="2039" y="2014"/>
              <a:ext cx="1243" cy="505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1C1DC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283" y="2053"/>
              <a:ext cx="696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QUALITY </a:t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2283" y="2243"/>
              <a:ext cx="824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SOFTWARE</a:t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4" name="Google Shape;124;p5"/>
          <p:cNvSpPr/>
          <p:nvPr/>
        </p:nvSpPr>
        <p:spPr>
          <a:xfrm>
            <a:off x="1665988" y="4846352"/>
            <a:ext cx="13766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Developer: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839151" y="4846352"/>
            <a:ext cx="6732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665988" y="5146389"/>
            <a:ext cx="18402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easy to design;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665988" y="5446427"/>
            <a:ext cx="21111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easy to maintain;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665988" y="5748052"/>
            <a:ext cx="26109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easy to reuse its parts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269405" y="1431558"/>
            <a:ext cx="732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User: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69405" y="1769466"/>
            <a:ext cx="1667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easy to learn;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269405" y="2069504"/>
            <a:ext cx="18979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efficient to use;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269405" y="2369541"/>
            <a:ext cx="24285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get work done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494045" y="1427812"/>
            <a:ext cx="344646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Customer (those who pay):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643395" y="1427812"/>
            <a:ext cx="6732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494045" y="1727849"/>
            <a:ext cx="23080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solves problems at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494045" y="2029474"/>
            <a:ext cx="25648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 acceptable cost in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494045" y="2329512"/>
            <a:ext cx="30758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terms of money paid and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494045" y="2631137"/>
            <a:ext cx="18123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resources used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145976" y="4838612"/>
            <a:ext cx="30021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Development manager: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0644701" y="4838612"/>
            <a:ext cx="6732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145976" y="5140237"/>
            <a:ext cx="18126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sells more and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145976" y="5440274"/>
            <a:ext cx="228588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pleases customers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145976" y="5741899"/>
            <a:ext cx="21335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while costing less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145976" y="6041937"/>
            <a:ext cx="29059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develop and maintain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5" name="Google Shape;145;p5"/>
          <p:cNvCxnSpPr>
            <a:stCxn id="121" idx="3"/>
            <a:endCxn id="124" idx="0"/>
          </p:cNvCxnSpPr>
          <p:nvPr/>
        </p:nvCxnSpPr>
        <p:spPr>
          <a:xfrm flipH="1">
            <a:off x="2354286" y="4113284"/>
            <a:ext cx="2875200" cy="733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p5"/>
          <p:cNvCxnSpPr>
            <a:stCxn id="121" idx="1"/>
            <a:endCxn id="138" idx="2"/>
          </p:cNvCxnSpPr>
          <p:nvPr/>
        </p:nvCxnSpPr>
        <p:spPr>
          <a:xfrm rot="10800000">
            <a:off x="2400186" y="2938904"/>
            <a:ext cx="2829300" cy="607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" name="Google Shape;147;p5"/>
          <p:cNvCxnSpPr>
            <a:stCxn id="121" idx="7"/>
            <a:endCxn id="132" idx="2"/>
          </p:cNvCxnSpPr>
          <p:nvPr/>
        </p:nvCxnSpPr>
        <p:spPr>
          <a:xfrm flipH="1" rot="10800000">
            <a:off x="6624792" y="2677304"/>
            <a:ext cx="2859000" cy="869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" name="Google Shape;148;p5"/>
          <p:cNvCxnSpPr>
            <a:stCxn id="121" idx="5"/>
            <a:endCxn id="139" idx="0"/>
          </p:cNvCxnSpPr>
          <p:nvPr/>
        </p:nvCxnSpPr>
        <p:spPr>
          <a:xfrm>
            <a:off x="6624792" y="4113284"/>
            <a:ext cx="3022200" cy="725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The Nature of Software</a:t>
            </a:r>
            <a:endParaRPr/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838200" y="181063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lang="en-US">
                <a:highlight>
                  <a:srgbClr val="00FFFF"/>
                </a:highlight>
              </a:rPr>
              <a:t>Intangibility</a:t>
            </a:r>
            <a:r>
              <a:rPr lang="en-US"/>
              <a:t>: Software lacks physical form, making quality assessment and effort estimation difficult.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lang="en-US">
                <a:highlight>
                  <a:srgbClr val="00FFFF"/>
                </a:highlight>
              </a:rPr>
              <a:t>Low Duplication Cost</a:t>
            </a:r>
            <a:r>
              <a:rPr lang="en-US"/>
              <a:t>: Software is easy to reproduce.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Cost is in its development 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+"/>
            </a:pPr>
            <a:r>
              <a:rPr lang="en-US"/>
              <a:t> in other engineering products, manufacturing is the costly stage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lang="en-US">
                <a:highlight>
                  <a:srgbClr val="00FFFF"/>
                </a:highlight>
              </a:rPr>
              <a:t>Labor-Intensive Industry</a:t>
            </a:r>
            <a:r>
              <a:rPr lang="en-US"/>
              <a:t>: Hard to automate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The Nature of Software</a:t>
            </a:r>
            <a:endParaRPr/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lang="en-US">
                <a:highlight>
                  <a:srgbClr val="00FFFF"/>
                </a:highlight>
              </a:rPr>
              <a:t>Complexity &amp; Maintainability Issues</a:t>
            </a:r>
            <a:r>
              <a:rPr lang="en-US"/>
              <a:t>: Poorly structured code is hard to understand and modify.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lang="en-US">
                <a:highlight>
                  <a:srgbClr val="00FFFF"/>
                </a:highlight>
              </a:rPr>
              <a:t>Modification Challenges</a:t>
            </a:r>
            <a:r>
              <a:rPr lang="en-US"/>
              <a:t>: Modifying it without introducing errors is difficult due to its complexity.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lang="en-US">
                <a:highlight>
                  <a:srgbClr val="00FFFF"/>
                </a:highlight>
              </a:rPr>
              <a:t>Deterioration Over Time</a:t>
            </a:r>
            <a:r>
              <a:rPr lang="en-US"/>
              <a:t>: Software doesn’t wear out but degrades over time due to repeated modifications: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Erroneously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In ways that are not anticipated thus making it complex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Types of Software</a:t>
            </a:r>
            <a:endParaRPr/>
          </a:p>
        </p:txBody>
      </p:sp>
      <p:sp>
        <p:nvSpPr>
          <p:cNvPr id="166" name="Google Shape;166;p8"/>
          <p:cNvSpPr txBox="1"/>
          <p:nvPr>
            <p:ph idx="1" type="body"/>
          </p:nvPr>
        </p:nvSpPr>
        <p:spPr>
          <a:xfrm>
            <a:off x="838200" y="1825625"/>
            <a:ext cx="10515600" cy="4815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 Custom Software : Developed for a specific client or organization, tailored to unique needs.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Eastern University Web Portal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Bangladesh Railway Ticketing System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Banking Software </a:t>
            </a:r>
            <a:endParaRPr/>
          </a:p>
          <a:p>
            <a:pPr indent="-762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Types of Software</a:t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838200" y="1825625"/>
            <a:ext cx="11353800" cy="4815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 Generic Software: Designed for mass use, sold commercially , and driven by market demand.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Also often called Commercial Off-The-Shelf Software (COTS)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+"/>
            </a:pPr>
            <a:r>
              <a:rPr lang="en-US"/>
              <a:t>Microsoft Office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+"/>
            </a:pPr>
            <a:r>
              <a:rPr lang="en-US"/>
              <a:t>Google Chrome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+"/>
            </a:pPr>
            <a:r>
              <a:rPr lang="en-US"/>
              <a:t>Spotify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Types of Software</a:t>
            </a:r>
            <a:endParaRPr/>
          </a:p>
        </p:txBody>
      </p:sp>
      <p:sp>
        <p:nvSpPr>
          <p:cNvPr id="178" name="Google Shape;178;p10"/>
          <p:cNvSpPr txBox="1"/>
          <p:nvPr>
            <p:ph idx="1" type="body"/>
          </p:nvPr>
        </p:nvSpPr>
        <p:spPr>
          <a:xfrm>
            <a:off x="838200" y="1599706"/>
            <a:ext cx="10515600" cy="4815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 Embedded Software: Runs on specific hardware devices, often non-upgradable without replacing the hardware.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Smartphone OS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Washing Machine Software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Digital Utility Meters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i="1" lang="en-US">
                <a:solidFill>
                  <a:srgbClr val="1C1DC9"/>
                </a:solidFill>
              </a:rPr>
              <a:t>iOS </a:t>
            </a:r>
            <a:r>
              <a:rPr i="1" lang="en-US"/>
              <a:t>– embedded software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i="1" lang="en-US">
                <a:solidFill>
                  <a:srgbClr val="1C1DC9"/>
                </a:solidFill>
              </a:rPr>
              <a:t>Spotify</a:t>
            </a:r>
            <a:r>
              <a:rPr i="1" lang="en-US"/>
              <a:t> – generic software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Comparison</a:t>
            </a:r>
            <a:endParaRPr/>
          </a:p>
        </p:txBody>
      </p:sp>
      <p:graphicFrame>
        <p:nvGraphicFramePr>
          <p:cNvPr id="184" name="Google Shape;184;p11"/>
          <p:cNvGraphicFramePr/>
          <p:nvPr/>
        </p:nvGraphicFramePr>
        <p:xfrm>
          <a:off x="719528" y="1690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{15447C20-C6C7-4E9D-9710-208B67C7B18D}</a:tableStyleId>
              </a:tblPr>
              <a:tblGrid>
                <a:gridCol w="2658575"/>
                <a:gridCol w="2658575"/>
                <a:gridCol w="2658575"/>
                <a:gridCol w="2658575"/>
              </a:tblGrid>
              <a:tr h="50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Category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 Software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Generic Software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Embedded Software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How many copies are used?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How much processing power is needed?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How much effort goes into development?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( Security/ authentication 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Layered Technology:</a:t>
            </a:r>
            <a:br>
              <a:rPr lang="en-US"/>
            </a:b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838200" y="1417665"/>
            <a:ext cx="101645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Software development has layers to it: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All layers are connected: </a:t>
            </a:r>
            <a:endParaRPr/>
          </a:p>
        </p:txBody>
      </p:sp>
      <p:pic>
        <p:nvPicPr>
          <p:cNvPr descr="Lightbox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7210" y="2837801"/>
            <a:ext cx="5357579" cy="3063875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  <a:effectLst>
            <a:outerShdw blurRad="50800" rotWithShape="0" algn="ctr" dir="5400000" dist="50800">
              <a:srgbClr val="000000">
                <a:alpha val="0"/>
              </a:srgbClr>
            </a:outerShdw>
          </a:effectLst>
        </p:spPr>
      </p:pic>
      <p:sp>
        <p:nvSpPr>
          <p:cNvPr id="192" name="Google Shape;192;p12"/>
          <p:cNvSpPr txBox="1"/>
          <p:nvPr/>
        </p:nvSpPr>
        <p:spPr>
          <a:xfrm>
            <a:off x="2192312" y="6034350"/>
            <a:ext cx="7521314" cy="1025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Fig: The diagram shows the layers of software development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Layered Technology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164892" y="1510832"/>
            <a:ext cx="1202710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b="1" i="1" lang="en-US"/>
              <a:t>Quality Focus</a:t>
            </a:r>
            <a:r>
              <a:rPr lang="en-US"/>
              <a:t>: Ensures continuous improvement, security maintainability, and usability of the software.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b="1" i="1" lang="en-US"/>
              <a:t>Process</a:t>
            </a:r>
            <a:r>
              <a:rPr lang="en-US"/>
              <a:t>: The framework that defines software development.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lang="en-US"/>
              <a:t> </a:t>
            </a:r>
            <a:r>
              <a:rPr b="1" i="1" lang="en-US"/>
              <a:t>Method</a:t>
            </a:r>
            <a:r>
              <a:rPr lang="en-US"/>
              <a:t>: </a:t>
            </a:r>
            <a:r>
              <a:rPr lang="en-US" sz="2800"/>
              <a:t>Techniques for analysis, design, coding, and testing.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b="1" i="1" lang="en-US"/>
              <a:t>Tools</a:t>
            </a:r>
            <a:r>
              <a:rPr lang="en-US"/>
              <a:t>: Automated or manual computer programs for software development.</a:t>
            </a:r>
            <a:endParaRPr sz="2800"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Process Framework</a:t>
            </a:r>
            <a:endParaRPr/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38199" y="167150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is the foundation or base layer of software engineering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+"/>
            </a:pP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Process defines a framework that must be established for the effective delivery of software engineering technology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Lightbox" id="205" name="Google Shape;2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63" y="3683832"/>
            <a:ext cx="11680073" cy="235720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/>
        </p:nvSpPr>
        <p:spPr>
          <a:xfrm>
            <a:off x="1004341" y="5426439"/>
            <a:ext cx="97885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Figure : Activities of the Process Framework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Process Activities</a:t>
            </a:r>
            <a:endParaRPr/>
          </a:p>
        </p:txBody>
      </p:sp>
      <p:sp>
        <p:nvSpPr>
          <p:cNvPr id="213" name="Google Shape;213;p15"/>
          <p:cNvSpPr txBox="1"/>
          <p:nvPr>
            <p:ph idx="1" type="body"/>
          </p:nvPr>
        </p:nvSpPr>
        <p:spPr>
          <a:xfrm>
            <a:off x="838200" y="1543987"/>
            <a:ext cx="10824148" cy="51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Communication: </a:t>
            </a: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is the first and foremost thing for the development of software. Communication is necessary to know the actual demand of the client.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Planning: </a:t>
            </a: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basically means drawing a map to reduce the development complication.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Modeling: </a:t>
            </a: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In this process, a model is created according to the client for better understanding.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Construction: </a:t>
            </a: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includes the coding and testing of the problem.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Deployment:- </a:t>
            </a: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includes delivering software to the client for evaluation and feedback.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238594" y="664928"/>
            <a:ext cx="3853721" cy="567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Comparison of different languages</a:t>
            </a:r>
            <a:endParaRPr/>
          </a:p>
        </p:txBody>
      </p:sp>
      <p:pic>
        <p:nvPicPr>
          <p:cNvPr descr="A screenshot of a computer game&#10;&#10;AI-generated content may be incorrect." id="219" name="Google Shape;2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908" y="0"/>
            <a:ext cx="615505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613349" y="365125"/>
            <a:ext cx="109890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4000"/>
              <a:t>The CMMI </a:t>
            </a:r>
            <a:r>
              <a:rPr lang="en-US" sz="3600"/>
              <a:t>(Capability Maturity Model Integration)</a:t>
            </a:r>
            <a:endParaRPr/>
          </a:p>
        </p:txBody>
      </p:sp>
      <p:sp>
        <p:nvSpPr>
          <p:cNvPr id="225" name="Google Shape;225;p17"/>
          <p:cNvSpPr txBox="1"/>
          <p:nvPr>
            <p:ph idx="1" type="body"/>
          </p:nvPr>
        </p:nvSpPr>
        <p:spPr>
          <a:xfrm>
            <a:off x="278569" y="1915566"/>
            <a:ext cx="581743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+"/>
            </a:pPr>
            <a:r>
              <a:rPr lang="en-US" sz="2400"/>
              <a:t>Framework used to </a:t>
            </a:r>
            <a:r>
              <a:rPr b="1" lang="en-US" sz="2400"/>
              <a:t>improve</a:t>
            </a:r>
            <a:r>
              <a:rPr lang="en-US" sz="2400"/>
              <a:t> and </a:t>
            </a:r>
            <a:r>
              <a:rPr b="1" lang="en-US" sz="2400"/>
              <a:t>assess the processes of software   development</a:t>
            </a:r>
            <a:r>
              <a:rPr lang="en-US" sz="2400"/>
              <a:t> (a </a:t>
            </a:r>
            <a:r>
              <a:rPr lang="en-US" sz="2400">
                <a:highlight>
                  <a:srgbClr val="FFFF00"/>
                </a:highlight>
              </a:rPr>
              <a:t>quantifiable standard</a:t>
            </a:r>
            <a:r>
              <a:rPr lang="en-US" sz="2400"/>
              <a:t> to measure their development level)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+"/>
            </a:pPr>
            <a:r>
              <a:rPr lang="en-US" sz="2400"/>
              <a:t> 5 Maturity Levels ( Initial, Managed, Defined, Quantitively Managed, Optimizing)</a:t>
            </a:r>
            <a:endParaRPr/>
          </a:p>
          <a:p>
            <a:pPr indent="-76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6" name="Google Shape;226;p17"/>
          <p:cNvSpPr txBox="1"/>
          <p:nvPr/>
        </p:nvSpPr>
        <p:spPr>
          <a:xfrm>
            <a:off x="6875487" y="2138336"/>
            <a:ext cx="503794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Why?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+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 risk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+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Enhance Productivity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+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Encourage Efficient Behavior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+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Improve Process</a:t>
            </a:r>
            <a:endParaRPr/>
          </a:p>
          <a:p>
            <a:pPr indent="-762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7" name="Google Shape;227;p17"/>
          <p:cNvCxnSpPr/>
          <p:nvPr/>
        </p:nvCxnSpPr>
        <p:spPr>
          <a:xfrm>
            <a:off x="6320852" y="1690688"/>
            <a:ext cx="0" cy="457621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Objectives Of CMMI</a:t>
            </a:r>
            <a:endParaRPr/>
          </a:p>
        </p:txBody>
      </p:sp>
      <p:sp>
        <p:nvSpPr>
          <p:cNvPr id="233" name="Google Shape;23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Fulfilling customer needs and expectations.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Value creation for investors/stockholders.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Market growth is increased.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Improved quality of products and services.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ts val="2800"/>
              <a:buFont typeface="Open Sans"/>
              <a:buAutoNum type="arabicPeriod"/>
            </a:pPr>
            <a:r>
              <a:rPr b="0" i="0" lang="en-US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Enhanced reputation in Industry.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Maturity Levels</a:t>
            </a:r>
            <a:endParaRPr/>
          </a:p>
        </p:txBody>
      </p:sp>
      <p:sp>
        <p:nvSpPr>
          <p:cNvPr id="239" name="Google Shape;23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i="1" lang="en-US"/>
              <a:t>Level 1 – Initial</a:t>
            </a:r>
            <a:r>
              <a:rPr lang="en-US"/>
              <a:t>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Processes are </a:t>
            </a:r>
            <a:r>
              <a:rPr lang="en-US">
                <a:solidFill>
                  <a:srgbClr val="FF0000"/>
                </a:solidFill>
              </a:rPr>
              <a:t>unpredictable, poorly controlled, and reactive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Projects tend to fail without clear structure or planning.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b="1" i="1" lang="en-US"/>
              <a:t>Level 2 – Managed: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Processes are </a:t>
            </a:r>
            <a:r>
              <a:rPr lang="en-US">
                <a:solidFill>
                  <a:srgbClr val="FF0000"/>
                </a:solidFill>
              </a:rPr>
              <a:t>planned and tracked</a:t>
            </a:r>
            <a:r>
              <a:rPr lang="en-US"/>
              <a:t>, with </a:t>
            </a:r>
            <a:r>
              <a:rPr lang="en-US">
                <a:solidFill>
                  <a:srgbClr val="FF0000"/>
                </a:solidFill>
              </a:rPr>
              <a:t>more stability and predictability</a:t>
            </a:r>
            <a:r>
              <a:rPr lang="en-US"/>
              <a:t>.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Projects are managed by the use of basic project management processes.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Maturity Levels</a:t>
            </a:r>
            <a:endParaRPr/>
          </a:p>
        </p:txBody>
      </p:sp>
      <p:sp>
        <p:nvSpPr>
          <p:cNvPr id="245" name="Google Shape;245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i="1" lang="en-US"/>
              <a:t>Level 3 – Defined: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Processes are </a:t>
            </a:r>
            <a:r>
              <a:rPr lang="en-US">
                <a:solidFill>
                  <a:srgbClr val="FF0000"/>
                </a:solidFill>
              </a:rPr>
              <a:t>well-documented and standardized</a:t>
            </a:r>
            <a:r>
              <a:rPr lang="en-US"/>
              <a:t> across the organization.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b="1" i="1" lang="en-US"/>
              <a:t>Level 4 – Quantitatively Managed: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At this level, </a:t>
            </a:r>
            <a:r>
              <a:rPr lang="en-US">
                <a:solidFill>
                  <a:srgbClr val="FF0000"/>
                </a:solidFill>
              </a:rPr>
              <a:t>processes are measured and controlled using quantitative data.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The organization </a:t>
            </a:r>
            <a:r>
              <a:rPr lang="en-US">
                <a:solidFill>
                  <a:srgbClr val="FF0000"/>
                </a:solidFill>
              </a:rPr>
              <a:t>uses data to manage and predict the performance </a:t>
            </a:r>
            <a:r>
              <a:rPr lang="en-US"/>
              <a:t>of the processes.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Maturity Levels</a:t>
            </a:r>
            <a:endParaRPr/>
          </a:p>
        </p:txBody>
      </p:sp>
      <p:sp>
        <p:nvSpPr>
          <p:cNvPr id="251" name="Google Shape;25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b="1" i="1" lang="en-US"/>
              <a:t>Level 5 – Optimizing: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>
                <a:solidFill>
                  <a:srgbClr val="FF0000"/>
                </a:solidFill>
              </a:rPr>
              <a:t>Processes are continuously improved </a:t>
            </a:r>
            <a:r>
              <a:rPr lang="en-US"/>
              <a:t>based on a quantitative understanding of process performance.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The focus is on </a:t>
            </a:r>
            <a:r>
              <a:rPr lang="en-US">
                <a:solidFill>
                  <a:srgbClr val="FF0000"/>
                </a:solidFill>
              </a:rPr>
              <a:t>optimizing and fine-tuning processes</a:t>
            </a:r>
            <a:r>
              <a:rPr lang="en-US"/>
              <a:t> for even better results.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/>
              <a:t>To conclude…..</a:t>
            </a:r>
            <a:endParaRPr/>
          </a:p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b="1" i="1" lang="en-US"/>
              <a:t>Definition: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The process of solving </a:t>
            </a:r>
            <a:r>
              <a:rPr lang="en-US">
                <a:solidFill>
                  <a:srgbClr val="FF0000"/>
                </a:solidFill>
              </a:rPr>
              <a:t>customers’ problems</a:t>
            </a:r>
            <a:r>
              <a:rPr lang="en-US"/>
              <a:t> by the </a:t>
            </a:r>
            <a:r>
              <a:rPr lang="en-US">
                <a:solidFill>
                  <a:srgbClr val="42289B"/>
                </a:solidFill>
              </a:rPr>
              <a:t>systematic development</a:t>
            </a:r>
            <a:r>
              <a:rPr lang="en-US"/>
              <a:t> </a:t>
            </a:r>
            <a:r>
              <a:rPr lang="en-US">
                <a:solidFill>
                  <a:srgbClr val="42289B"/>
                </a:solidFill>
              </a:rPr>
              <a:t>and evolution</a:t>
            </a:r>
            <a:r>
              <a:rPr lang="en-US"/>
              <a:t> of </a:t>
            </a:r>
            <a:r>
              <a:rPr lang="en-US">
                <a:solidFill>
                  <a:srgbClr val="1C1DC9"/>
                </a:solidFill>
              </a:rPr>
              <a:t>large, high-quality software systems</a:t>
            </a:r>
            <a:r>
              <a:rPr lang="en-US"/>
              <a:t> within </a:t>
            </a:r>
            <a:r>
              <a:rPr lang="en-US">
                <a:solidFill>
                  <a:srgbClr val="1C1DC9"/>
                </a:solidFill>
              </a:rPr>
              <a:t>cost, time and other constraints.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23"/>
          <p:cNvGrpSpPr/>
          <p:nvPr/>
        </p:nvGrpSpPr>
        <p:grpSpPr>
          <a:xfrm>
            <a:off x="-44951" y="-418135"/>
            <a:ext cx="11929296" cy="6782736"/>
            <a:chOff x="-44951" y="-418135"/>
            <a:chExt cx="11929296" cy="6782736"/>
          </a:xfrm>
        </p:grpSpPr>
        <p:sp>
          <p:nvSpPr>
            <p:cNvPr id="263" name="Google Shape;263;p23"/>
            <p:cNvSpPr/>
            <p:nvPr/>
          </p:nvSpPr>
          <p:spPr>
            <a:xfrm rot="2700000">
              <a:off x="175990" y="525742"/>
              <a:ext cx="1066799" cy="1066799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23"/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5" name="Google Shape;265;p23"/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23"/>
            <p:cNvSpPr/>
            <p:nvPr/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9" name="Google Shape;269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0" y="-10459"/>
            <a:ext cx="12192000" cy="68580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71" name="Google Shape;271;p23"/>
          <p:cNvGrpSpPr/>
          <p:nvPr/>
        </p:nvGrpSpPr>
        <p:grpSpPr>
          <a:xfrm>
            <a:off x="370264" y="-418135"/>
            <a:ext cx="11514081" cy="6782736"/>
            <a:chOff x="370264" y="-418135"/>
            <a:chExt cx="11514081" cy="6782736"/>
          </a:xfrm>
        </p:grpSpPr>
        <p:sp>
          <p:nvSpPr>
            <p:cNvPr id="272" name="Google Shape;272;p23"/>
            <p:cNvSpPr/>
            <p:nvPr/>
          </p:nvSpPr>
          <p:spPr>
            <a:xfrm rot="2700000">
              <a:off x="2081719" y="1580837"/>
              <a:ext cx="485348" cy="485348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23"/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rect b="b" l="l" r="r" t="t"/>
              <a:pathLst>
                <a:path extrusionOk="0" h="6859500" w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6" name="Google Shape;276;p23"/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23"/>
            <p:cNvSpPr/>
            <p:nvPr/>
          </p:nvSpPr>
          <p:spPr>
            <a:xfrm rot="10800000">
              <a:off x="370264" y="477350"/>
              <a:ext cx="746823" cy="746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01600" rotWithShape="0" dir="16200000" dist="38100">
                <a:srgbClr val="000000">
                  <a:alpha val="470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78" name="Google Shape;278;p23"/>
          <p:cNvSpPr txBox="1"/>
          <p:nvPr>
            <p:ph type="title"/>
          </p:nvPr>
        </p:nvSpPr>
        <p:spPr>
          <a:xfrm>
            <a:off x="1524000" y="3518771"/>
            <a:ext cx="9144000" cy="2605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n-US" sz="5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XOVTI">
  <a:themeElements>
    <a:clrScheme name="3D">
      <a:dk1>
        <a:srgbClr val="000000"/>
      </a:dk1>
      <a:lt1>
        <a:srgbClr val="FFFFFF"/>
      </a:lt1>
      <a:dk2>
        <a:srgbClr val="201449"/>
      </a:dk2>
      <a:lt2>
        <a:srgbClr val="F3F0E9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2025-02-01T07:55:25Z</dcterms:created>
  <dc:creator>nishat sithy</dc:creator>
</cp:coreProperties>
</file>